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441" autoAdjust="0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-606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5486400" cy="5486400"/>
          </a:xfrm>
          <a:prstGeom prst="ellipse">
            <a:avLst/>
          </a:prstGeom>
          <a:solidFill>
            <a:srgbClr val="1B3358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731520"/>
            <a:ext cx="4206240" cy="4206240"/>
          </a:xfrm>
          <a:prstGeom prst="ellipse">
            <a:avLst/>
          </a:prstGeom>
          <a:solidFill>
            <a:srgbClr val="0B1E3D"/>
          </a:solidFill>
          <a:ln w="19050">
            <a:solidFill>
              <a:srgbClr val="2440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326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TRAINING MODULE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317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bait. Question the message. Protect the organization.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251960"/>
            <a:ext cx="2011680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attack starts with a message someone chose to trust.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walkthrough — from recognizing the bait to responding with confidence.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1854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scale, and why it works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898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Attack Unfolds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2369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four-stage anatomy of a phishing attempt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950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2885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spear phishing, smishing, vishing &amp; more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5001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a Phishing Email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53400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hiding in plain sight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1874520"/>
            <a:ext cx="457200" cy="45720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31152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a Fake Website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31152" y="21854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and page-level warning signs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292608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31152" y="2898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31152" y="32369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psychology attackers exploit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3977640"/>
            <a:ext cx="457200" cy="45720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093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931152" y="3950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Cases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931152" y="42885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major breaches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09360" y="502920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0936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931152" y="5001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&amp; Response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931152" y="53400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stay safe — and what to do if you click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con, delivered digitally.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social-engineering attack where someone impersonates a trusted person, brand, or system — by email, text, or phone — to trick you into handing over credentials, money, or access.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60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break your systems. It borrows your trust.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0" y="685800"/>
            <a:ext cx="6492240" cy="1234440"/>
          </a:xfrm>
          <a:prstGeom prst="rect">
            <a:avLst/>
          </a:prstGeom>
          <a:solidFill>
            <a:srgbClr val="F4F6F8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94960" y="8229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3.4B+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82296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worldwide every day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2148840"/>
            <a:ext cx="6492240" cy="1234440"/>
          </a:xfrm>
          <a:prstGeom prst="rect">
            <a:avLst/>
          </a:prstGeom>
          <a:solidFill>
            <a:srgbClr val="F4F6F8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94960" y="22860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28600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breaches start with phishing (IBM, 2025)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3611880"/>
            <a:ext cx="6492240" cy="1234440"/>
          </a:xfrm>
          <a:prstGeom prst="rect">
            <a:avLst/>
          </a:prstGeom>
          <a:solidFill>
            <a:srgbClr val="F4F6F8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94960" y="374904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7490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involve a human element — a click, a reply, a mistake (Verizon DBIR, 2025)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0" y="5074920"/>
            <a:ext cx="6492240" cy="1234440"/>
          </a:xfrm>
          <a:prstGeom prst="rect">
            <a:avLst/>
          </a:prstGeom>
          <a:solidFill>
            <a:srgbClr val="F4F6F8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52120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sec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521208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for a victim to click after opening a phishing message (Verizon DBIR)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Phishing Attack Unfolds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— and the earliest one is the easiest to stop.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48716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1737360"/>
            <a:ext cx="640080" cy="640080"/>
          </a:xfrm>
          <a:prstGeom prst="ellipse">
            <a:avLst/>
          </a:prstGeom>
          <a:solidFill>
            <a:srgbClr val="2A9D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63624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063240"/>
            <a:ext cx="19751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studies the target — job title, coworkers, vendors, writing style — often from public profiles and past breaches.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081528" y="32232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47288" y="2057400"/>
            <a:ext cx="248716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1737360"/>
            <a:ext cx="640080" cy="64008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70832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25146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Lure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063240"/>
            <a:ext cx="19751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arrives that looks legitimate: a shared invoice, an HR notice, a delivery alert, a login warning.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888736" y="32232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54496" y="2057400"/>
            <a:ext cx="248716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1737360"/>
            <a:ext cx="640080" cy="64008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83096" y="25146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Hook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10528" y="3063240"/>
            <a:ext cx="19751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link, attachment, or reply pressures the victim to act — entering credentials or approving a request.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695944" y="32232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61704" y="2057400"/>
            <a:ext cx="248716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85248" y="173736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85248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290304" y="25146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Payoff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17736" y="3063240"/>
            <a:ext cx="19751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gains access, credentials, or funds, then often pivots deeper into accounts or the network.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is where awareness training does the most good — before a lure ever reaches an inbox.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trick, different channel — attackers pick whichever one you trust most.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3384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92808"/>
            <a:ext cx="2401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Phishing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2996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Mass, generic messages sent to thousands of inboxes hoping a few people click.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7784" y="1691640"/>
            <a:ext cx="3453384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6384" y="192024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6384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36464" y="1892808"/>
            <a:ext cx="2401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 Phishing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560320"/>
            <a:ext cx="2996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 one person or team, using real names and context to feel authentic.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5488" y="1691640"/>
            <a:ext cx="3453384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4088" y="192024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408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964168" y="1892808"/>
            <a:ext cx="2401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Whaling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24088" y="2560320"/>
            <a:ext cx="2996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— often forging urgent requests from the "CEO."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453384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16052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133088"/>
            <a:ext cx="2401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Smishing (SMS)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800600"/>
            <a:ext cx="2996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text messages — fake delivery links, bank alerts, or OTP requests.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67784" y="3931920"/>
            <a:ext cx="3453384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6384" y="416052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96384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236464" y="4133088"/>
            <a:ext cx="2401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Vishing (Voice)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96384" y="4800600"/>
            <a:ext cx="2996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impersonating IT support, banks, or officials to extract info live.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95488" y="3931920"/>
            <a:ext cx="3453384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4088" y="416052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24088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964168" y="4133088"/>
            <a:ext cx="2401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Phishing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324088" y="4800600"/>
            <a:ext cx="2996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near-identical copy of a real email you received, with links swapped for malicious ones.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flags are almost always visible once you know where to look.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76656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6766560" cy="320040"/>
          </a:xfrm>
          <a:prstGeom prst="rect">
            <a:avLst/>
          </a:prstGeom>
          <a:solidFill>
            <a:srgbClr val="E9EDF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18488"/>
            <a:ext cx="100584" cy="10058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618488"/>
            <a:ext cx="100584" cy="10058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8" name="Shape 6"/>
          <p:cNvSpPr/>
          <p:nvPr/>
        </p:nvSpPr>
        <p:spPr>
          <a:xfrm>
            <a:off x="1234440" y="1618488"/>
            <a:ext cx="100584" cy="100584"/>
          </a:xfrm>
          <a:prstGeom prst="ellipse">
            <a:avLst/>
          </a:prstGeom>
          <a:solidFill>
            <a:srgbClr val="2A9D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01168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r>
              <a:rPr lang="en-US" sz="11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IT-Support@paypa1-secure.com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37744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1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account will be suspended in 24 hours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74320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</a:t>
            </a:r>
            <a:r>
              <a:rPr lang="en-US" sz="11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Undisclosed recipients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108960"/>
            <a:ext cx="630936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2918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Customer,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activity on your account. Failure to verify your information within 24 hours will result in permanent suspension.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below to confirm your identity immediately.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4754880"/>
            <a:ext cx="2194560" cy="4114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754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My Account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3492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greeting, spelling slips, and a mismatched hyperlink often sit right below the fold.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Flags to Check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35240" y="1993392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27848" y="18928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domain is slightly misspelled or unfamiliar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2560320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27848" y="245973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line creates urgency or fear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35240" y="3127248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27848" y="302666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is generic ("Dear Customer") not your name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35240" y="3694176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27848" y="359359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to click, verify, or pay immediately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35240" y="4261104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27848" y="41605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Hovering the link shows a mismatched URL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35240" y="4828032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27848" y="47274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attachment, especially .zip or .exe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35240" y="5394960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27848" y="529437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grammar, odd phrasing, or inconsistent branding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a Fake Website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links often lead to a page built to look like one you already trust.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solidFill>
            <a:srgbClr val="F4F6F8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01368"/>
            <a:ext cx="10515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013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</a:t>
            </a:r>
            <a:r>
              <a:rPr lang="en-US" sz="1300" dirty="0">
                <a:solidFill>
                  <a:srgbClr val="17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secure-login.</a:t>
            </a:r>
            <a:r>
              <a:rPr lang="en-US" sz="13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yourbank-verify.info</a:t>
            </a:r>
            <a:r>
              <a:rPr lang="en-US" sz="1300" dirty="0">
                <a:solidFill>
                  <a:srgbClr val="17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/account/confirm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5146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padlock / "http" not "https"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86207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login pages almost always use an encrypted, padlocked connection.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2587752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5146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Unfamiliar or altered domain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86207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"yourbank-verify.info" is not the bank's real domain — extra words and odd endings are warning signs.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895344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82219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Urgent pop-ups or countdowns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169664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scarcity ("Session expires in 60 seconds") pushes you to skip careful checking.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3895344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382219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Asks for more than it needs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4169664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password-reset page that also wants your card number or PIN is a red flag.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5202936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202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512978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Low-quality design or broken links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547725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Stretched logos, odd fonts, and dead footer links suggest a rushed clone.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5202936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63640" y="5202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512978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engine, not the email link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547725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known address or use a saved bookmark instead of clicking through.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Psychology Behind the Click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rarely exploits software — it exploits these six human instincts.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2904" cy="1874520"/>
          </a:xfrm>
          <a:prstGeom prst="rect">
            <a:avLst/>
          </a:prstGeom>
          <a:solidFill>
            <a:srgbClr val="1B335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7452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2919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within 24 hours or lose access" — panic short-circuits careful thinking.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3024" y="1691640"/>
            <a:ext cx="3422904" cy="1874520"/>
          </a:xfrm>
          <a:prstGeom prst="rect">
            <a:avLst/>
          </a:prstGeom>
          <a:solidFill>
            <a:srgbClr val="1B3358"/>
          </a:solidFill>
          <a:ln/>
        </p:spPr>
      </p:sp>
      <p:sp>
        <p:nvSpPr>
          <p:cNvPr id="10" name="Shape 8"/>
          <p:cNvSpPr/>
          <p:nvPr/>
        </p:nvSpPr>
        <p:spPr>
          <a:xfrm>
            <a:off x="4611624" y="1892808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1624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05984" y="187452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57344" y="2514600"/>
            <a:ext cx="2919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CEO, bank, or government agency to make requests feel non-negotiable.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5968" y="1691640"/>
            <a:ext cx="3422904" cy="1874520"/>
          </a:xfrm>
          <a:prstGeom prst="rect">
            <a:avLst/>
          </a:prstGeom>
          <a:solidFill>
            <a:srgbClr val="1B3358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4568" y="1892808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456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48928" y="187452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00288" y="2514600"/>
            <a:ext cx="2919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fines, legal trouble, or account loss push people to comply first, question later.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3422904" cy="1874520"/>
          </a:xfrm>
          <a:prstGeom prst="rect">
            <a:avLst/>
          </a:prstGeom>
          <a:solidFill>
            <a:srgbClr val="1B3358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087368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06908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Curiosity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709160"/>
            <a:ext cx="2919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"See who viewed your profile" or an unexpected "invoice" invites a reflexive click.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3024" y="3886200"/>
            <a:ext cx="3422904" cy="1874520"/>
          </a:xfrm>
          <a:prstGeom prst="rect">
            <a:avLst/>
          </a:prstGeom>
          <a:solidFill>
            <a:srgbClr val="1B3358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1624" y="4087368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1624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205984" y="406908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Familiarity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57344" y="4709160"/>
            <a:ext cx="2919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a known coworker, vendor, or brand so the request feels routine.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25968" y="3886200"/>
            <a:ext cx="3422904" cy="1874520"/>
          </a:xfrm>
          <a:prstGeom prst="rect">
            <a:avLst/>
          </a:prstGeom>
          <a:solidFill>
            <a:srgbClr val="1B3358"/>
          </a:solidFill>
          <a:ln/>
        </p:spPr>
      </p:sp>
      <p:sp>
        <p:nvSpPr>
          <p:cNvPr id="30" name="Shape 28"/>
          <p:cNvSpPr/>
          <p:nvPr/>
        </p:nvSpPr>
        <p:spPr>
          <a:xfrm>
            <a:off x="8354568" y="4087368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54568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948928" y="406908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Scarcity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400288" y="4709160"/>
            <a:ext cx="2919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Limited-time offers or one-time codes pressure quick action without verification.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Cases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well-resourced organizations have lost millions to a well-crafted message.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290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3422904" cy="6858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764792"/>
            <a:ext cx="3020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&amp; Facebook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075688"/>
            <a:ext cx="302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2013–2015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29657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Lithuanian attacker sent fake invoices impersonating a hardware vendor both companies actually used, tricking finance teams into wiring over $100 million combined before the fraud was uncovered.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3024" y="1691640"/>
            <a:ext cx="342290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3024" y="1691640"/>
            <a:ext cx="3422904" cy="6858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84192" y="1764792"/>
            <a:ext cx="3020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Corporation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84192" y="2075688"/>
            <a:ext cx="302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11624" y="2560320"/>
            <a:ext cx="29657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phished credentials from a third-party HVAC vendor, then used that access to reach Target's network — eventually exposing tens of millions of customers' payment card details.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5968" y="1691640"/>
            <a:ext cx="342290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25968" y="1691640"/>
            <a:ext cx="3422904" cy="6858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7136" y="1764792"/>
            <a:ext cx="3020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RSA Security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7136" y="2075688"/>
            <a:ext cx="302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2560320"/>
            <a:ext cx="29657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received a spear-phishing email titled "2011 Recruitment Plan" with a malicious attachment. One click compromised data behind RSA's SecurID authentication products.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303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U.S. DOJ press releases; public breach disclosures and post-incident reporting.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Avoid Falling Victim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257800" cy="4937760"/>
          </a:xfrm>
          <a:prstGeom prst="rect">
            <a:avLst/>
          </a:prstGeom>
          <a:solidFill>
            <a:srgbClr val="EAF6E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5257800" cy="502920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2344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63640" y="1234440"/>
            <a:ext cx="5257800" cy="4937760"/>
          </a:xfrm>
          <a:prstGeom prst="rect">
            <a:avLst/>
          </a:prstGeom>
          <a:solidFill>
            <a:srgbClr val="FCEAEA"/>
          </a:solidFill>
          <a:ln/>
        </p:spPr>
      </p:sp>
      <p:sp>
        <p:nvSpPr>
          <p:cNvPr id="7" name="Shape 5"/>
          <p:cNvSpPr/>
          <p:nvPr/>
        </p:nvSpPr>
        <p:spPr>
          <a:xfrm>
            <a:off x="6263640" y="1234440"/>
            <a:ext cx="5257800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2344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1920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190195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clicking — urgency is a tactic, not a deadline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61518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5968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requests for money or credentials via a second channel (call, in person)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33101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2918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the real destination before clicking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0050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98678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sender's full email address, not just the display name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470001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6817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known URLs directly or use saved bookmarks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5394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537667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everywhere it's offered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1920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93992" y="190195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enter credentials after clicking a link from an email or text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261518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793992" y="25968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open unexpected attachments, even from familiar names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64808" y="33101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93992" y="32918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trust caller ID or display names at face value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64808" y="40050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793992" y="398678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reuse the same password across work and personal accounts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64808" y="470001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793992" y="46817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approve payment or access changes based on a message alone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64808" y="5394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93992" y="537667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assume a padlock icon alone means a site is legitimate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Click — Act Fast, Not Embarrassed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quickly limits the damage far more than reporting perfectly.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4871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Disconnect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0040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entered credentials or downloaded a file, disconnect from Wi-Fi/network to limit spread.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47288" y="1828800"/>
            <a:ext cx="24871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75888" y="210312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75888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7889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Passwords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320040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affected password immediately — and anywhere else you reused it.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54496" y="1828800"/>
            <a:ext cx="24871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83096" y="210312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83096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83096" y="27889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It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320040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IT/security or your reporting channel right away — don't wait to be sure.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61704" y="1828800"/>
            <a:ext cx="24871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90304" y="210312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90304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90304" y="27889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90304" y="320040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accounts and alerts for unusual activity in the days that follow.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709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penalty for a false alarm. There is always a cost to silence.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5361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exploits people, not just systems — awareness is the strongest defense.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95728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774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 when a message pushes urgency, fear, or authority.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236976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186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 addresses, hover links, and check URLs before you act.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078224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05993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credentials or payment info from a link in an email or text.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91947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901184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verify through a second, known channel — then report it.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B335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389120"/>
            <a:ext cx="4114800" cy="4114800"/>
          </a:xfrm>
          <a:prstGeom prst="ellipse">
            <a:avLst/>
          </a:prstGeom>
          <a:solidFill>
            <a:srgbClr val="1326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Skeptical. Stay Safe.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live examples, and a short knowledge check follow this session.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840480"/>
            <a:ext cx="1828800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14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messages to your IT/Security team the moment you see them.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1503</Words>
  <Application>Microsoft Office PowerPoint</Application>
  <PresentationFormat>Custom</PresentationFormat>
  <Paragraphs>244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SONY</cp:lastModifiedBy>
  <cp:revision>2</cp:revision>
  <dcterms:created xsi:type="dcterms:W3CDTF">2026-08-30T05:08:47Z</dcterms:created>
  <dcterms:modified xsi:type="dcterms:W3CDTF">2026-09-01T01:24:34Z</dcterms:modified>
</cp:coreProperties>
</file>